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686800" y="0"/>
            <a:ext cx="3502152" cy="6858000"/>
          </a:xfrm>
          <a:prstGeom prst="rtTriangle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731520" cy="91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0584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CM4 IoT Gateway 자체 호스팅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CCD4DB"/>
                </a:solidFill>
                <a:latin typeface="Malgun Gothic"/>
              </a:rPr>
              <a:t>Industrial CM4 기반 Self-hosted IoT Fleet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E67E22"/>
                </a:solidFill>
                <a:latin typeface="Malgun Gothic"/>
              </a:rPr>
              <a:t>상세 구현 계획서 (Detailed Implementation Plan)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7315200" cy="1280160"/>
          </a:xfrm>
          <a:prstGeom prst="rect">
            <a:avLst/>
          </a:prstGeom>
          <a:solidFill>
            <a:srgbClr val="0F1A2A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7040880" cy="11887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작성일      2026-05-02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구축 방식   Docker 미사용 · systemd 기반 자체 호스팅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핵심 구성   VerneMQ + PostgreSQL + Keycloak + FastAPI + React (Vite)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관리 모델   사용자별 다중 Gateway · Sensor Profile 기반 동적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8A8B"/>
                </a:solidFill>
                <a:latin typeface="Malgun Gothic"/>
              </a:rPr>
              <a:t>v1.0  ·  Owner: Solo + Claude Code AI pair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목차 (Agenda)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전체 41-section 계획서를 38 슬라이드로 압축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02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24128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Part 1.  배경 및 설계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1051560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E4053"/>
                </a:solidFill>
                <a:latin typeface="Malgun Gothic"/>
              </a:rPr>
              <a:t>프로젝트 개요 / 핵심 요구사항 / 사업·기술 전제   ·   핵심 설계 철학 4가지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0312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Part 2.  시스템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1051560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E4053"/>
                </a:solidFill>
                <a:latin typeface="Malgun Gothic"/>
              </a:rPr>
              <a:t>전체 시스템 개념도   ·   상세 시스템 구성도 (서버 + Gateway 내부)   ·   서버 구성요소 / systemd 서비스 / 디렉터리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0040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Part 3.  데이터 모델 및 통신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051560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E4053"/>
                </a:solidFill>
                <a:latin typeface="Malgun Gothic"/>
              </a:rPr>
              <a:t>권한 모델 / Keycloak / PostgreSQL ERD   ·   Sensor Profile · Channel 분리 / Telemetry / Config 버전 관리   ·   MQTT Topic &amp; Payload / 원격 제어 흐름 / Alarm Rule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29768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15968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Part 4.  Web Portal · Gateway Agent · 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51560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E4053"/>
                </a:solidFill>
                <a:latin typeface="Malgun Gothic"/>
              </a:rPr>
              <a:t>Web Portal 화면 / Sensor Wizard / Dashboard / Bulk   ·   Gateway Agent 구현 / Safety MCU 설계 / API 요약   ·   보안 설계 / RLS / 운영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9496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Part 5.  실행 계획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60720"/>
            <a:ext cx="1051560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E4053"/>
                </a:solidFill>
                <a:latin typeface="Malgun Gothic"/>
              </a:rPr>
              <a:t>개발 로드맵 7단계   ·   Phase 1 상세 spec (1주 sprint, 코드 0줄)   ·   라이선스 검토 / 우선순위 /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Industrial CM4 IoT Gateway Fleet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03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산업용 Raspberry Pi CM4 기반 IoT Gateway 제품을 자체 호스팅 서버와 연동하여 상용화한다.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E4053"/>
                </a:solidFill>
                <a:latin typeface="Malgun Gothic"/>
              </a:rPr>
              <a:t>여러 사용자가 각자 하나 이상의 Gateway를 보유하며, Gateway마다 서로 다른 센서·제어 장치를 연결한다.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Malgun Gothic"/>
              </a:rPr>
              <a:t>10가지 핵심 요구사항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478024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87168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사용자별 여러 Gateway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31720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36208" y="2478024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87168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Gateway별 서로 다른 센서 구성 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82112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328416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37560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릴레이·밸브·펌프 등 제어 채널 관리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182112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36208" y="3328416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337560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센서 종류 추가 시 코드 수정 최소화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32504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4178808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187952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Gateway 설정 중앙 관리 및 원격 반영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032504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36208" y="4178808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187952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사용자·고객사·현장·장비 단위 권한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82896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6928" y="5029200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038344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원격 제어 명령의 안전성 확보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882896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36208" y="5029200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038344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장비 상태·센서·알람·이력 통합 관리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733288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928" y="5879592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888736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Docker 없이 systemd 기반 운영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733288"/>
            <a:ext cx="5577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36208" y="5879592"/>
            <a:ext cx="502920" cy="502920"/>
          </a:xfrm>
          <a:prstGeom prst="ellipse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888736"/>
            <a:ext cx="47548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무료 OSS 기반 상용화 가능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전제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사업·운영 전제 / 기술 스택 (인터뷰 결과 반영)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04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4572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33271"/>
            <a:ext cx="5029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사업 · 운영 전제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서비스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60020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자체 서버 운영 (퍼블릭 IoT 플랫폼 미사용)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컨테이너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10312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Docker 미사용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서버 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60604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Ubuntu Server 24.04 LTS · 사내 물리 머신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사용자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10896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한 사용자가 여러 Gateway 보유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센서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1188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Gateway마다 종류·수량 상이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제어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11480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Gateway마다 릴레이·밸브·펌프 구성 상이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관리회사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61772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전체 사용자·Gateway 통합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일반 사용자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12064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본인에게 할당된 Gateway만 접근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라이선스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623560"/>
            <a:ext cx="3840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무료 OSS 중심 (AGPL/BSL/GPL 리스크 최소화)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005840"/>
            <a:ext cx="557784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005840"/>
            <a:ext cx="5577840" cy="45720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033271"/>
            <a:ext cx="5029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기술 스택 (확정)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00200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MQTT Broker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1600200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VerneMQ (Apache 2.0)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039112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039112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PostgreSQL 16 (apt)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478024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478024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Keycloak — Postgres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16936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916936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FastAPI (Python 3.12)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355848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355848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React + Vite (SPA)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794760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Chart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3794760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Apache ECharts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233672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Reverse Proxy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233672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Nginx + certbot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72584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서비스 관리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672584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systemd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111496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Gateway 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5111496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Pi OS Lite / Ubuntu ARM64 (Phase 2 결정)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550408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Gateway 통신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550408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MQTT (Phase 1: plain · Phase 7: TLS)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989320"/>
            <a:ext cx="1554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Malgun Gothic"/>
              </a:rPr>
              <a:t>Gateway 설정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5989320"/>
            <a:ext cx="374903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서버 desired/reported 구조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핵심 설계 철학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이 4가지 원칙이 모든 데이터 모델·코드 구조를 결정한다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05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321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137160" cy="2651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43000"/>
            <a:ext cx="914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67E22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234440"/>
            <a:ext cx="40690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E4A"/>
                </a:solidFill>
                <a:latin typeface="Malgun Gothic"/>
              </a:rPr>
              <a:t>Gateway 중심 엔티티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89204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C2833"/>
                </a:solidFill>
                <a:latin typeface="Malgun Gothic"/>
              </a:rPr>
              <a:t>사용자별 여러 Gateway, Gateway별 회사·현장 배정. User-Company-Site-Gateway 4축으로 권한 판단.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005840"/>
            <a:ext cx="55321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005840"/>
            <a:ext cx="137160" cy="2651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143000"/>
            <a:ext cx="914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67E22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1234440"/>
            <a:ext cx="40690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E4A"/>
                </a:solidFill>
                <a:latin typeface="Malgun Gothic"/>
              </a:rPr>
              <a:t>Sensor 종류는 코드가 아닌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920240"/>
            <a:ext cx="489204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C2833"/>
                </a:solidFill>
                <a:latin typeface="Malgun Gothic"/>
              </a:rPr>
              <a:t>센서 추가 시 schema/Gateway 코드 수정 없음. Sensor Profile (모델 정의) + Sensor Channel (실 인스턴스) 분리.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94760"/>
            <a:ext cx="55321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137160" cy="2651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914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67E22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023360"/>
            <a:ext cx="40690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E4A"/>
                </a:solidFill>
                <a:latin typeface="Malgun Gothic"/>
              </a:rPr>
              <a:t>Gateway Config 중앙 버전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489204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C2833"/>
                </a:solidFill>
                <a:latin typeface="Malgun Gothic"/>
              </a:rPr>
              <a:t>서버가 Gateway별 설정을 desired_config로 발행 → Gateway가 reported_config로 보고. config_version + config_hash 추적.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94760"/>
            <a:ext cx="55321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794760"/>
            <a:ext cx="137160" cy="2651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931920"/>
            <a:ext cx="914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67E22"/>
                </a:solidFill>
                <a:latin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4023360"/>
            <a:ext cx="40690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C2E4A"/>
                </a:solidFill>
                <a:latin typeface="Malgun Gothic"/>
              </a:rPr>
              <a:t>systemd 기반 서비스 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709160"/>
            <a:ext cx="489204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C2833"/>
                </a:solidFill>
                <a:latin typeface="Malgun Gothic"/>
              </a:rPr>
              <a:t>Docker 미사용. nginx · vernemq · postgresql · keycloak · iot-backend · iot-worker · iot-scheduler를 OS 서비스로 명확 관리.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전체 시스템 개념도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Concept Architecture — 사용자, 서버, Gateway, 현장 장비의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06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7B8A8B"/>
                </a:solidFill>
                <a:latin typeface="Malgun Gothic"/>
              </a:rPr>
              <a:t>USER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32588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일반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320040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7B8A8B"/>
                </a:solidFill>
                <a:latin typeface="Malgun Gothic"/>
              </a:rPr>
              <a:t>본인 Gateway 조회·제어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32588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고객사 관리자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320040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7B8A8B"/>
                </a:solidFill>
                <a:latin typeface="Malgun Gothic"/>
              </a:rPr>
              <a:t>회사 내 사용자·현장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관리회사 관리자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20040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7B8A8B"/>
                </a:solidFill>
                <a:latin typeface="Malgun Gothic"/>
              </a:rPr>
              <a:t>전체 통합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286000"/>
            <a:ext cx="3931920" cy="59436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Web Portal  (React + Vite SPA · ECharts)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77724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6400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C2E4A"/>
                </a:solidFill>
                <a:latin typeface="Malgun Gothic"/>
              </a:rPr>
              <a:t>SELF-HOSTED SERVER  (Ubuntu 24.04 LTS · systemd)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93592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Nginx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Malgun Gothic"/>
              </a:rPr>
              <a:t>443/80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599" y="352044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599" y="3593592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Keycloak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599" y="3931920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Malgun Gothic"/>
              </a:rPr>
              <a:t>OIDC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18" y="352044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8" y="3593592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Backend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8" y="3931920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Malgun Gothic"/>
              </a:rPr>
              <a:t>FastAPI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37" y="352044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37" y="3593592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Worker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37" y="3931920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Malgun Gothic"/>
              </a:rPr>
              <a:t>MQTT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48056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53712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Scheduler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Malgun Gothic"/>
              </a:rPr>
              <a:t>주기 작업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4599" y="448056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599" y="4553712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599" y="4892040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Malgun Gothic"/>
              </a:rPr>
              <a:t>16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18" y="448056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18" y="4553712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VerneMQ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8" y="4892040"/>
            <a:ext cx="1783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Malgun Gothic"/>
              </a:rPr>
              <a:t>1883/8883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108960"/>
            <a:ext cx="3291840" cy="24688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3154680"/>
            <a:ext cx="3108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STORAGE / ASSETS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520440"/>
            <a:ext cx="30175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펌웨어 저장소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3749040"/>
            <a:ext cx="301752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CCD4DB"/>
                </a:solidFill>
                <a:latin typeface="Consolas"/>
              </a:rPr>
              <a:t>/var/lib/.../firmware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023360"/>
            <a:ext cx="30175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Gateway Configs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251960"/>
            <a:ext cx="301752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CCD4DB"/>
                </a:solidFill>
                <a:latin typeface="Consolas"/>
              </a:rPr>
              <a:t>/var/lib/.../gateway-configs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526280"/>
            <a:ext cx="30175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백업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4754880"/>
            <a:ext cx="301752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CCD4DB"/>
                </a:solidFill>
                <a:latin typeface="Consolas"/>
              </a:rPr>
              <a:t>/var/lib/.../backups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5029200"/>
            <a:ext cx="30175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로그 번들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257800"/>
            <a:ext cx="3017520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CCD4DB"/>
                </a:solidFill>
                <a:latin typeface="Consolas"/>
              </a:rPr>
              <a:t>/var/lib/.../log-bundles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797296"/>
            <a:ext cx="2743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7B8A8B"/>
                </a:solidFill>
                <a:latin typeface="Malgun Gothic"/>
              </a:rPr>
              <a:t>GATEWAY LAYER  (CM4 + Safety MCU)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71600" y="6053328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0F1A2A"/>
                </a:solidFill>
                <a:latin typeface="Malgun Gothic"/>
              </a:rPr>
              <a:t>CM4 Gateway #01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77639" y="6053328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0F1A2A"/>
                </a:solidFill>
                <a:latin typeface="Malgun Gothic"/>
              </a:rPr>
              <a:t>CM4 Gateway #02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6053328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0F1A2A"/>
                </a:solidFill>
                <a:latin typeface="Malgun Gothic"/>
              </a:rPr>
              <a:t>CM4 Gateway #03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89720" y="6053328"/>
            <a:ext cx="233172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0F1A2A"/>
                </a:solidFill>
                <a:latin typeface="Malgun Gothic"/>
              </a:rPr>
              <a:t>CM4 Gateway #04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514600" y="1920240"/>
            <a:ext cx="3566160" cy="365760"/>
          </a:xfrm>
          <a:prstGeom prst="line">
            <a:avLst/>
          </a:prstGeom>
          <a:ln w="12700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080760" y="1920240"/>
            <a:ext cx="91440" cy="365760"/>
          </a:xfrm>
          <a:prstGeom prst="line">
            <a:avLst/>
          </a:prstGeom>
          <a:ln w="12700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080760" y="1920240"/>
            <a:ext cx="3749040" cy="365760"/>
          </a:xfrm>
          <a:prstGeom prst="line">
            <a:avLst/>
          </a:prstGeom>
          <a:ln w="12700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4343400" y="2880360"/>
            <a:ext cx="1737360" cy="228600"/>
          </a:xfrm>
          <a:prstGeom prst="line">
            <a:avLst/>
          </a:prstGeom>
          <a:ln w="19050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560320" y="5577840"/>
            <a:ext cx="4754880" cy="475488"/>
          </a:xfrm>
          <a:prstGeom prst="line">
            <a:avLst/>
          </a:prstGeom>
          <a:ln w="15875">
            <a:solidFill>
              <a:srgbClr val="E67E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166360" y="5577840"/>
            <a:ext cx="2148840" cy="475488"/>
          </a:xfrm>
          <a:prstGeom prst="line">
            <a:avLst/>
          </a:prstGeom>
          <a:ln w="15875">
            <a:solidFill>
              <a:srgbClr val="E67E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315200" y="5577840"/>
            <a:ext cx="457199" cy="475488"/>
          </a:xfrm>
          <a:prstGeom prst="line">
            <a:avLst/>
          </a:prstGeom>
          <a:ln w="15875">
            <a:solidFill>
              <a:srgbClr val="E67E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15200" y="5577840"/>
            <a:ext cx="3063240" cy="475488"/>
          </a:xfrm>
          <a:prstGeom prst="line">
            <a:avLst/>
          </a:prstGeom>
          <a:ln w="15875">
            <a:solidFill>
              <a:srgbClr val="E67E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B8A8B"/>
                </a:solidFill>
                <a:latin typeface="Consolas"/>
              </a:rPr>
              <a:t>── HTTPS (Web/API)     ┄┄ MQTT (Telemetry · Command · Config)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상세 시스템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Detailed Architecture — 서버 내부 모듈, 포트, 데이터 흐름, Gateway 내부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07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60120"/>
            <a:ext cx="6949440" cy="5577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6949440" cy="36576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978408"/>
            <a:ext cx="64008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서버 (Ubuntu 24.04 · systemd)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508760"/>
            <a:ext cx="6400800" cy="5029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Nginx  ·  443/80  ·  HTTPS reverse proxy + 정적 파일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64008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7B8A8B"/>
                </a:solidFill>
                <a:latin typeface="Consolas"/>
              </a:rPr>
              <a:t>/ → frontend     /api/ → 8000     /auth/ → 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77440"/>
            <a:ext cx="2121408" cy="14173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212140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iot-backend.service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15768"/>
            <a:ext cx="1938528" cy="10789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  <a:latin typeface="Malgun Gothic"/>
              </a:rPr>
              <a:t>FastAPI · :8000
• REST API
• 권한 검사
• Command publish
• Config 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52928" y="2377440"/>
            <a:ext cx="2121408" cy="14173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423160"/>
            <a:ext cx="212140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iot-worker.service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715768"/>
            <a:ext cx="1938528" cy="10789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  <a:latin typeface="Malgun Gothic"/>
              </a:rPr>
              <a:t>Python · MQTT
• telemetry 수신
• telemetry_latest
• alarm eval
• response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377440"/>
            <a:ext cx="2121408" cy="14173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423160"/>
            <a:ext cx="212140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iot-scheduler.service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715768"/>
            <a:ext cx="1938528" cy="10789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CF0F1"/>
                </a:solidFill>
                <a:latin typeface="Malgun Gothic"/>
              </a:rPr>
              <a:t>Python · 주기
• offline 판정
• cmd timeout
• partition 정리
• report 생성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39"/>
            <a:ext cx="212140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Keycloak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212140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Consolas"/>
              </a:rPr>
              <a:t>:8080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1938528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ECF0F1"/>
                </a:solidFill>
                <a:latin typeface="Malgun Gothic"/>
              </a:rPr>
              <a:t>OIDC/OAuth2 · realm: iot-platform · roles 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52928" y="393192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3977639"/>
            <a:ext cx="212140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4251960"/>
            <a:ext cx="212140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Consolas"/>
              </a:rPr>
              <a:t>:5432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4526280"/>
            <a:ext cx="1938528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ECF0F1"/>
                </a:solidFill>
                <a:latin typeface="Malgun Gothic"/>
              </a:rPr>
              <a:t>iot_platform · keycloak  ·  RLS 검토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65776" y="393192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6" y="3977639"/>
            <a:ext cx="212140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VerneMQ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5776" y="4251960"/>
            <a:ext cx="212140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Consolas"/>
              </a:rPr>
              <a:t>:1883/:8883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4526280"/>
            <a:ext cx="1938528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ECF0F1"/>
                </a:solidFill>
                <a:latin typeface="Malgun Gothic"/>
              </a:rPr>
              <a:t>MQTT broker  ·  password→X.509 (Phase 7)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34924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94960"/>
            <a:ext cx="6126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/var/lib/iot-platform/  ·  /etc/iot-platform/  ·  /var/log/iot-platform/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69280"/>
            <a:ext cx="14630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firmware/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97880"/>
            <a:ext cx="1463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CCD4DB"/>
                </a:solidFill>
                <a:latin typeface="Malgun Gothic"/>
              </a:rPr>
              <a:t>OTA 이미지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669280"/>
            <a:ext cx="14630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gateway-configs/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897880"/>
            <a:ext cx="1463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CCD4DB"/>
                </a:solidFill>
                <a:latin typeface="Malgun Gothic"/>
              </a:rPr>
              <a:t>config 백업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669280"/>
            <a:ext cx="14630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backups/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5897880"/>
            <a:ext cx="1463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CCD4DB"/>
                </a:solidFill>
                <a:latin typeface="Malgun Gothic"/>
              </a:rPr>
              <a:t>pg_dump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79" y="5669280"/>
            <a:ext cx="14630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log-bundles/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79" y="5897880"/>
            <a:ext cx="1463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CCD4DB"/>
                </a:solidFill>
                <a:latin typeface="Malgun Gothic"/>
              </a:rPr>
              <a:t>장비 로그 수집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960120"/>
            <a:ext cx="4389120" cy="5577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79" y="960120"/>
            <a:ext cx="4389120" cy="365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978408"/>
            <a:ext cx="41148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F1A2A"/>
                </a:solidFill>
                <a:latin typeface="Malgun Gothic"/>
              </a:rPr>
              <a:t>Gateway (CM4 Linux + Safety MCU)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146304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1508760"/>
            <a:ext cx="3840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/opt/iot-gateway/   (Linux user space)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182880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1865376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gateway-agent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2121408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MQTT 연결 · 부팅 흐름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182880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1865376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sensor-service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2121408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Modbus/AI/DI polling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246888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20" y="2505456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actuator-service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2761488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GPIO/Relay 제어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38360" y="246888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2505456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rule-engine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2761488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Local Rule (오프라인 가용)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72400" y="310896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3145536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mqtt-client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3401568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Telemetry/Command/Config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38360" y="310896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0" y="3145536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local-db (SQLite)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3401568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telemetry queue · cmd log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72400" y="3749039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18120" y="3785615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ota-agent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4041647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이미지 검증·적용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38360" y="3749039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3785615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Consolas"/>
              </a:rPr>
              <a:t>health-agent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0" y="4041647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Malgun Gothic"/>
              </a:rPr>
              <a:t>CPU/MEM/Net heartbeat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680960" y="466344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0" y="4709160"/>
            <a:ext cx="3840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STM32 / NXP Safety MCU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0" y="4983480"/>
            <a:ext cx="38404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Malgun Gothic"/>
              </a:rPr>
              <a:t>릴레이 직접 제어 · Watchdog · Fail-safe · Interlock · 비상 정지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80960" y="55321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0" y="5577840"/>
            <a:ext cx="3840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C2E4A"/>
                </a:solidFill>
                <a:latin typeface="Malgun Gothic"/>
              </a:rPr>
              <a:t>Field I/O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0" y="5852160"/>
            <a:ext cx="38404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1C2833"/>
                </a:solidFill>
                <a:latin typeface="Malgun Gothic"/>
              </a:rPr>
              <a:t>RS-485 (Modbus RTU)  ·  GPIO Relay  ·  Analog 0-10V/4-20mA  ·  GPS  ·  Digital Input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7040880" y="2286000"/>
            <a:ext cx="731520" cy="2148840"/>
          </a:xfrm>
          <a:prstGeom prst="line">
            <a:avLst/>
          </a:prstGeom>
          <a:ln w="25400">
            <a:solidFill>
              <a:srgbClr val="E67E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995160" y="3200400"/>
            <a:ext cx="5029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E67E22"/>
                </a:solidFill>
                <a:latin typeface="Malgun Gothic"/>
              </a:rPr>
              <a:t>MQTT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서버 구성 — systemd 서비스 6+종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Docker 미사용. OS 서비스 단위로 명확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08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06424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서비스 이름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06424"/>
            <a:ext cx="914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06424"/>
            <a:ext cx="6858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역할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5361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nginx.service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5361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361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HTTPS reverse proxy · 정적 파일 제공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9933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vernemq.service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9933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9933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MQTT Broker (1883 plain · 추후 8883 TLS)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4505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postgresql.service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505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4505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관계형 DB · 센서 데이터 저장 · keycloak DB 공유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077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keycloak.service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9077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필수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9077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사용자 인증 · OIDC/OAuth2 토큰 발급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3649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iot-backend.service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3649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필수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3649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REST API · 권한 검사 · Gateway 관리 · 명령 발행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8221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iot-worker.service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8221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필수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8221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MQTT subscribe · telemetry ingestion · alarm eval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2793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iot-scheduler.service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2793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필수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2793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offline 판단 · timeout 처리 · 백업 · OTA 상태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7365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prometheus.service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7365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7B8A8B"/>
                </a:solidFill>
                <a:latin typeface="Malgun Gothic"/>
              </a:rPr>
              <a:t>선택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7365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내부 metric 수집 (Phase 7+)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193792"/>
            <a:ext cx="30175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opensearch.service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193792"/>
            <a:ext cx="9144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7B8A8B"/>
                </a:solidFill>
                <a:latin typeface="Malgun Gothic"/>
              </a:rPr>
              <a:t>선택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193792"/>
            <a:ext cx="685800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로그 검색 (필요 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1">
                <a:solidFill>
                  <a:srgbClr val="7B8A8B"/>
                </a:solidFill>
                <a:latin typeface="Malgun Gothic"/>
              </a:rPr>
              <a:t>※ 모든 서비스는 EnvironmentFile=/etc/iot-platform/{name}.env 로 환경 변수 분리. Restart=always · After=network.target.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권장 서버 디렉터리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FHS 친화 · 환경 변수 분리 · 릴리스 슬롯 + symlink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09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36576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5394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/opt/iot-platform/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backend/   app/  venv/  migrations/  scripts/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worker/    app/  venv/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scheduler/ app/  venv/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frontend/  current/  releases/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releases/  backend-1.0.0/  backend-1.0.1/  ...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current -&gt; releases/backend-1.0.x   (atomic switch)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005840"/>
            <a:ext cx="5577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005840"/>
            <a:ext cx="5577840" cy="365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051560"/>
            <a:ext cx="5394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/etc/iot-platform/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463040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backend.env       (DATABASE_URL, KC_ISSUER, ...)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worker.env        (MQTT_HOST, MQTT_USER, ...)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scheduler.env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mqtt.env / db.env / keycloak.env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577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577840" cy="36576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94759"/>
            <a:ext cx="5394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/var/lib/iot-platform/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39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firmware/         (OTA 이미지)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gateway-configs/  (desired/reported snapshots)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reports/          (정기 통계)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log-bundles/      (Gateway 진단 로그)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backups/          (pg_dump · realm export)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49039"/>
            <a:ext cx="5577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749039"/>
            <a:ext cx="5577840" cy="36576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794759"/>
            <a:ext cx="5394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/var/log/iot-platform/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206239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backend.log / worker.log / scheduler.log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mqtt-ingestion.log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Backend / Worker / Scheduler 역할 분담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관심사 분리 — 각 프로세스가 다른 라이프사이클을 가짐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10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794760" cy="64008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69848"/>
            <a:ext cx="37947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389888"/>
            <a:ext cx="37947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Malgun Gothic"/>
              </a:rPr>
              <a:t>REST · 동기 요청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3429000" cy="45720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사용자 인증 연동 (Keycloak JWT 검증)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User · Company · Site · Gateway 권한 검사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Gateway 등록 / Profile / Channel 관리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Gateway Config 생성 · 버전 관리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MQTT command publish (request 발행)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Telemetry 조회 API · latest 조회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Alarm Rule 관리 · Audit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005840"/>
            <a:ext cx="3794760" cy="64008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069848"/>
            <a:ext cx="37947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389888"/>
            <a:ext cx="37947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Malgun Gothic"/>
              </a:rPr>
              <a:t>MQTT subscribe · 비동기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783080"/>
            <a:ext cx="3429000" cy="45720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MQTT subscribe (gw/+/telemetry, state, ...)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Telemetry message 검증 (schema · ts)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Telemetry 저장 (partition table)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telemetry_latest upsert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Heartbeat / state 처리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Command response 처리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Reported_config 처리 · Alarm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1005840"/>
            <a:ext cx="3794760" cy="640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5" y="1069848"/>
            <a:ext cx="37947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5" y="1389888"/>
            <a:ext cx="37947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Malgun Gothic"/>
              </a:rPr>
              <a:t>주기 작업 · cron 대체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5" y="1783080"/>
            <a:ext cx="3429000" cy="45720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Gateway offline 판단 (heartbeat timeout)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미응답 command timeout 처리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오래된 telemetry partition drop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백업 실행 (pg_dump · realm export)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OTA job 상태 확인 · 재시도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알람 재전송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통계 / 리포트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사용자 · 권한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Keycloak (인증) + Backend DB (실권한) — RBAC × ABAC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11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48640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권한 계층 (Top-Down)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4572000" cy="54864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81912"/>
            <a:ext cx="237744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System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01368"/>
            <a:ext cx="42976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Malgun Gothic"/>
              </a:rPr>
              <a:t>시스템 전체 설정 · 모든 회사·Gateway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148840"/>
            <a:ext cx="4297680" cy="54864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221992"/>
            <a:ext cx="237744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Management Company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441448"/>
            <a:ext cx="402336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Malgun Gothic"/>
              </a:rPr>
              <a:t>모든 고객사·전체 Gateway 관제·유지보수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788920"/>
            <a:ext cx="4023360" cy="54864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2862072"/>
            <a:ext cx="237744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Customer Company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1528"/>
            <a:ext cx="37490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Malgun Gothic"/>
              </a:rPr>
              <a:t>본인 회사 사용자·현장·Gateway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39" y="3429000"/>
            <a:ext cx="3749041" cy="54864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199" y="3502152"/>
            <a:ext cx="237744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Site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199" y="3721608"/>
            <a:ext cx="3474721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Malgun Gothic"/>
              </a:rPr>
              <a:t>특정 현장 Gateway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37360" y="406908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20" y="4142232"/>
            <a:ext cx="237744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Operator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4361688"/>
            <a:ext cx="32004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Malgun Gothic"/>
              </a:rPr>
              <a:t>허용된 Gateway 제어 채널 조작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70916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4782312"/>
            <a:ext cx="237744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001768"/>
            <a:ext cx="29260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Malgun Gothic"/>
              </a:rPr>
              <a:t>센서 데이터·상태 조회만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534924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5422392"/>
            <a:ext cx="2377440" cy="182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algun Gothic"/>
              </a:rPr>
              <a:t>Maintenance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641848"/>
            <a:ext cx="29260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Malgun Gothic"/>
              </a:rPr>
              <a:t>진단·로그 수집·OTA·재부팅 (별도 축)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1005840"/>
            <a:ext cx="55321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09728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권한 테이블 (3축)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1554480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user_company_roles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155448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user × company × role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057400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user_site_permissions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05740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user × site × permission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560320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user_gateway_permissions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560320"/>
            <a:ext cx="2286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user × gateway × permission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10896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권한 종류 (permission)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337560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Consolas"/>
              </a:rPr>
              <a:t>view  ·  control  ·  configure  ·  maintain  ·  admin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657600"/>
            <a:ext cx="55321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749039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Keycloak ↔ Backend 책임 분리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1605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206240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Keycloak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526280"/>
            <a:ext cx="2377440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사용자 인증
OIDC / OAuth2 토큰 발급
role claim 제공
사용자 가입·비번 reset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16052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4206240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Backend 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526280"/>
            <a:ext cx="2468880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algun Gothic"/>
              </a:rPr>
              <a:t>company_id · site_id · gateway_id 기반 실권한 판단
사용자 ↔ 자산 매핑
명령 권한 검증
Audit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Keycloak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Realm: iot-platform · 7 roles · group 기반 회사 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12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Realm:  iot-platform        ·        DB Backend: PostgreSQL (공유 인스턴스, db=keycloak)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Groups (Company 매핑)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5212080" cy="36576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49377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management-company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24912"/>
            <a:ext cx="5212080" cy="36576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70632"/>
            <a:ext cx="49377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customer-company-a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63824"/>
            <a:ext cx="5212080" cy="36576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9544"/>
            <a:ext cx="49377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customer-company-b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02736"/>
            <a:ext cx="5212080" cy="36576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48456"/>
            <a:ext cx="49377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Consolas"/>
              </a:rPr>
              <a:t>customer-company-c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8308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874519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Roles (7종, Phase 1에서 모두 생성)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28600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31720"/>
            <a:ext cx="2286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F1A2A"/>
                </a:solidFill>
                <a:latin typeface="Consolas"/>
              </a:rPr>
              <a:t>system_admin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286000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331720"/>
            <a:ext cx="2286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F1A2A"/>
                </a:solidFill>
                <a:latin typeface="Consolas"/>
              </a:rPr>
              <a:t>management_admin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724912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70632"/>
            <a:ext cx="2286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F1A2A"/>
                </a:solidFill>
                <a:latin typeface="Consolas"/>
              </a:rPr>
              <a:t>company_admin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2724912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770632"/>
            <a:ext cx="2286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F1A2A"/>
                </a:solidFill>
                <a:latin typeface="Consolas"/>
              </a:rPr>
              <a:t>site_manager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163824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209544"/>
            <a:ext cx="2286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F1A2A"/>
                </a:solidFill>
                <a:latin typeface="Consolas"/>
              </a:rPr>
              <a:t>operator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3163824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209544"/>
            <a:ext cx="2286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F1A2A"/>
                </a:solidFill>
                <a:latin typeface="Consolas"/>
              </a:rPr>
              <a:t>viewer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602736"/>
            <a:ext cx="24688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648456"/>
            <a:ext cx="2286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F1A2A"/>
                </a:solidFill>
                <a:latin typeface="Consolas"/>
              </a:rPr>
              <a:t>maintenance_engineer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51960"/>
            <a:ext cx="11247120" cy="219456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Malgun Gothic"/>
              </a:rPr>
              <a:t>설계 원칙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09160"/>
            <a:ext cx="1097280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Keycloak 책임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 i="0">
                <a:solidFill>
                  <a:srgbClr val="CCD4DB"/>
                </a:solidFill>
                <a:latin typeface="Malgun Gothic"/>
              </a:rPr>
              <a:t>사용자 인증 · 비밀번호 정책 · OTP/2FA · 비밀번호 reset · 토큰 발급 · role claim 제공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Backend 책임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 i="0">
                <a:solidFill>
                  <a:srgbClr val="CCD4DB"/>
                </a:solidFill>
                <a:latin typeface="Malgun Gothic"/>
              </a:rPr>
              <a:t>company_id · site_id · gateway_id 기반 실 접근 권한 판단 (Keycloak claim만 신뢰하지 않음)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토큰 검증 흐름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 i="0">
                <a:solidFill>
                  <a:srgbClr val="CCD4DB"/>
                </a:solidFill>
                <a:latin typeface="Malgun Gothic"/>
              </a:rPr>
              <a:t>React → Keycloak OIDC 로그인 → Bearer token → /api/* 요청 → Backend가 JWT 검증 + DB 권한 매핑 → 응답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PostgreSQL — 핵심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Gateway 중심. Profile-Channel 분리. Telemetry partition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13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companies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sites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user_company_roles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user_gateway_perm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0972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gateway_profiles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gateways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3832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sensor_profiles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4348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sensor_channels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5486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actuator_profiles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486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actuator_channels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0972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gateway_configs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telemetry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telemetry_latest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alarm_rules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commands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audit_logs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onsolas"/>
              </a:rPr>
              <a:t>bulk_jobs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91640.0" y="1691640"/>
            <a:ext cx="0.0" cy="50292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43200" y="2446020.0"/>
            <a:ext cx="1371600" cy="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66360.0" y="1600200"/>
            <a:ext cx="0.0" cy="59436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66360.0" y="2697480"/>
            <a:ext cx="0.0" cy="173736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66360.0" y="3886200"/>
            <a:ext cx="0.0" cy="54864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17920" y="2446020.0"/>
            <a:ext cx="1554480" cy="329184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17920" y="5737860.0"/>
            <a:ext cx="1554480" cy="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17920" y="2446020.0"/>
            <a:ext cx="1554480" cy="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17920" y="2446020.0"/>
            <a:ext cx="1554480" cy="100584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217920" y="1348740.0"/>
            <a:ext cx="1554480" cy="109728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17920" y="2446020.0"/>
            <a:ext cx="3840480" cy="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17920" y="2446020.0"/>
            <a:ext cx="1554480" cy="2011680.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691640.0" y="3794760"/>
            <a:ext cx="0.0" cy="41148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691640.0" y="3794760"/>
            <a:ext cx="0.0" cy="1325880"/>
          </a:xfrm>
          <a:prstGeom prst="line">
            <a:avLst/>
          </a:prstGeom>
          <a:ln w="9525">
            <a:solidFill>
              <a:srgbClr val="7B8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43200" y="2446020.0"/>
            <a:ext cx="1371600" cy="2926080.0"/>
          </a:xfrm>
          <a:prstGeom prst="line">
            <a:avLst/>
          </a:prstGeom>
          <a:ln w="9525">
            <a:solidFill>
              <a:srgbClr val="7B8A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7B8A8B"/>
                </a:solidFill>
                <a:latin typeface="Malgun Gothic"/>
              </a:rPr>
              <a:t>■ Identity/Auth   ■ Asset(Gateway)   ■ Profile   ■ Telemetry   ■ Config/Command   ■ Alarm/Audit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핵심 테이블 (Phase 2 우선)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companies · sites · users · gateways  ─ DDL 발췌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14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5440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78992"/>
            <a:ext cx="53035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companies · sites ·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5303520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CREATE TABLE companies (
    id UUID PRIMARY KEY,
    name TEXT NOT NULL,
    company_type TEXT NOT NULL,
        -- 'management' | 'customer'
    status TEXT NOT NULL DEFAULT 'active',
    created_at TIMESTAMPTZ DEFAULT now(),
    updated_at TIMESTAMPTZ DEFAULT now()
);
CREATE TABLE sites (
    id UUID PRIMARY KEY,
    company_id UUID NOT NULL
        REFERENCES companies(id),
    name TEXT NOT NULL,
    address TEXT,
    latitude  DOUBLE PRECISION,
    longitude DOUBLE PRECISION,
    created_at TIMESTAMPTZ DEFAULT now()
);
CREATE TABLE users (
    id UUID PRIMARY KEY,
    keycloak_user_id TEXT UNIQUE NOT NULL,
    email TEXT UNIQUE NOT NULL,
    name TEXT NOT NULL,
    status TEXT NOT NULL DEFAULT 'active',
    created_at TIMESTAMPTZ DEFAULT now()
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005840"/>
            <a:ext cx="5532120" cy="5440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078992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gateways · user_gateway_permissions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303520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CREATE TABLE gateways (
    id UUID PRIMARY KEY,
    serial_number TEXT UNIQUE NOT NULL,
    name TEXT NOT NULL,
    company_id UUID NOT NULL
        REFERENCES companies(id),
    site_id UUID REFERENCES sites(id),
    gateway_profile_id UUID
        REFERENCES gateway_profiles(id),
    status TEXT NOT NULL DEFAULT 'offline',
    firmware_version TEXT,
    app_version TEXT,
    config_version INTEGER DEFAULT 0,
    last_seen_at TIMESTAMPTZ,
    registered_at TIMESTAMPTZ DEFAULT now()
);
CREATE TABLE user_gateway_permissions (
    id UUID PRIMARY KEY,
    user_id UUID NOT NULL REFERENCES users(id),
    gateway_id UUID NOT NULL,
    permission TEXT NOT NULL,
        -- view | control | configure | maintain | admin
    UNIQUE(user_id, gateway_id, permission)
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Sensor Profile / Sensor Channel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센서 종류는 코드가 아니라 데이터로 — 새 센서 추가 시 코드 수정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15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45720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33271"/>
            <a:ext cx="50292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sensor_profiles  (모델 정의)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212080" cy="18288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벤더 / 모델 / 통신 프로토콜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측정 항목 (key, display_name, unit, data_type)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scale / offset / min / max / quality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register map (Modbus function_code, register, length)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default_polling_interval_sec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visualization (line_chart / gauge / map)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예: TH-RS485-01 (Modbus RTU 온습도)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212080" cy="24688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029200" cy="2331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{
  "name": "RS485 Temperature Humidity Sensor",
  "vendor": "Generic", "model": "TH-RS485-01",
  "protocol": "modbus_rtu", "interface_type": "rs485",
  "default_polling_interval_sec": 10,
  "measurements": [
    {"key": "temperature", "unit": "degC",
     "modbus": {"function_code": 3, "register": 0, "length": 1},
     "scale": 0.1, "visualization": "line_chart"},
    {"key": "humidity", "unit": "%",
     "modbus": {"function_code": 3, "register": 1, "length": 1},
     "scale": 0.1, "visualization": "line_chart"}
  ]
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005840"/>
            <a:ext cx="553212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005840"/>
            <a:ext cx="5532120" cy="4572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033271"/>
            <a:ext cx="52120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sensor_channels  (Gateway에 실제 연결된 인스턴스)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54480"/>
            <a:ext cx="5212080" cy="18288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어떤 Gateway에 (gateway_id)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어떤 Sensor Profile을 (sensor_profile_id)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어떤 인터페이스/포트로 (interface_name)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Modbus slave_id / address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polling_interval_sec / enabled / display_name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override 가능한 config JSONB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예: GW-000001의 1번 RS-485에 슬레이브 1로 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212080" cy="24688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31920"/>
            <a:ext cx="5029200" cy="2331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{
  "gateway_id":         "GW-000001",
  "sensor_channel_id":  "sensor-01",
  "sensor_profile_id":  "profile-rs485-temp-humi-001",
  "display_name":       "1번 온습도 센서",
  "interface":          "rs485_1",
  "protocol":           "modbus_rtu",
  "slave_id":           1,
  "polling_interval_sec": 10,
  "enabled":            true
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Telemetry 저장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월별 partition + telemetry_latest upsert (대시보드용)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16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6858000" cy="5440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51560"/>
            <a:ext cx="65836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DDL — telemetry · telemetry_latest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6583680" cy="5029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CREATE TABLE telemetry (
    id BIGSERIAL,
    company_id UUID NOT NULL,
    site_id UUID,
    gateway_id UUID NOT NULL REFERENCES gateways(id),
    sensor_channel_id UUID NOT NULL REFERENCES sensor_channels(id),
    measurement_key TEXT NOT NULL,
    ts TIMESTAMPTZ NOT NULL,
    value_double DOUBLE PRECISION,
    value_text TEXT, value_bool BOOLEAN, value_json JSONB,
    unit TEXT, quality TEXT, raw JSONB,
    PRIMARY KEY (id, ts)
) PARTITION BY RANGE (ts);
CREATE TABLE telemetry_2026_05 PARTITION OF telemetry
    FOR VALUES FROM ('2026-05-01') TO ('2026-06-01');
CREATE TABLE telemetry_latest (
    gateway_id UUID, sensor_channel_id UUID,
    measurement_key TEXT, ts TIMESTAMPTZ,
    value_double DOUBLE PRECISION,
    value_text TEXT, value_bool BOOLEAN, value_json JSONB,
    unit TEXT, quality TEXT,
    PRIMARY KEY (gateway_id, sensor_channel_id, measurement_key)
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005840"/>
            <a:ext cx="42519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097280"/>
            <a:ext cx="39319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설계 의도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3931920" cy="49377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센서마다 컬럼이 다르므로 measurement_key + value_* 다중 컬럼 패턴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월별 partition으로 retention 정책 (drop partition)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대시보드는 telemetry_latest 단일 테이블 → O(1) 조회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Worker에서 INSERT + UPSERT 동시 수행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raw JSONB는 디버깅용 원본 메시지 보존 (옵션)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1">
                <a:solidFill>
                  <a:srgbClr val="7B8A8B"/>
                </a:solidFill>
                <a:latin typeface="Malgun Gothic"/>
              </a:rPr>
              <a:t>• 향후 TimescaleDB Community 기능 검토 가능 (License 주의)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212080"/>
            <a:ext cx="39319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예시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486400"/>
            <a:ext cx="393192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1C2833"/>
                </a:solidFill>
                <a:latin typeface="Consolas"/>
              </a:rPr>
              <a:t>| GW-001 | sensor-01 | temperature | 24.7 | degC |
| GW-001 | sensor-01 | humidity    | 61.2 | %    |
| GW-002 | sensor-02 | tilt_x      |  3.2 | deg  |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Gateway Config 버전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desired_config (서버) ↔ reported_config (Gateway) — 양방향 추적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17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828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Web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Malgun Gothic"/>
              </a:rPr>
              <a:t>관리자 변경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1417320"/>
            <a:ext cx="64008" cy="0"/>
          </a:xfrm>
          <a:prstGeom prst="line">
            <a:avLst/>
          </a:prstGeom>
          <a:ln w="15875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50008" y="105156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1170432"/>
            <a:ext cx="1828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Backend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146304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Malgun Gothic"/>
              </a:rPr>
              <a:t>config 저장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78808" y="1417320"/>
            <a:ext cx="64008" cy="0"/>
          </a:xfrm>
          <a:prstGeom prst="line">
            <a:avLst/>
          </a:prstGeom>
          <a:ln w="15875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42816" y="105156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1170432"/>
            <a:ext cx="1828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Config 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146304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Malgun Gothic"/>
              </a:rPr>
              <a:t>version + hash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71616" y="1417320"/>
            <a:ext cx="64008" cy="0"/>
          </a:xfrm>
          <a:prstGeom prst="line">
            <a:avLst/>
          </a:prstGeom>
          <a:ln w="15875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35624" y="105156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170432"/>
            <a:ext cx="1828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MQTT publish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146304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Malgun Gothic"/>
              </a:rPr>
              <a:t>gw/{id}/config/desired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64424" y="1417320"/>
            <a:ext cx="64008" cy="0"/>
          </a:xfrm>
          <a:prstGeom prst="line">
            <a:avLst/>
          </a:prstGeom>
          <a:ln w="15875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28432" y="105156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2" y="1170432"/>
            <a:ext cx="1828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2" y="146304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Malgun Gothic"/>
              </a:rPr>
              <a:t>설정 적용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57232" y="1417320"/>
            <a:ext cx="64008" cy="0"/>
          </a:xfrm>
          <a:prstGeom prst="line">
            <a:avLst/>
          </a:prstGeom>
          <a:ln w="15875">
            <a:solidFill>
              <a:srgbClr val="7B8A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21240" y="105156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1170432"/>
            <a:ext cx="1828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MQTT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146304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  <a:latin typeface="Malgun Gothic"/>
              </a:rPr>
              <a:t>gw/{id}/config/reported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057400"/>
            <a:ext cx="5760720" cy="438912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10312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Consolas"/>
              </a:rPr>
              <a:t>DDL — gateway_configs ·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2423160"/>
            <a:ext cx="5486400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CREATE TABLE gateway_configs (
    id UUID PRIMARY KEY,
    gateway_id UUID NOT NULL REFERENCES gateways(id),
    config_version INTEGER NOT NULL,
    config_hash TEXT NOT NULL,
    desired_config JSONB NOT NULL,
    status TEXT NOT NULL DEFAULT 'pending',
    created_by UUID REFERENCES users(id),
    created_at TIMESTAMPTZ DEFAULT now(),
    applied_at TIMESTAMPTZ,
    UNIQUE(gateway_id, config_version)
);
CREATE TABLE gateway_config_history (
    id UUID PRIMARY KEY,
    gateway_id UUID NOT NULL REFERENCES gateways(id),
    config_version INTEGER NOT NULL,
    config_snapshot JSONB NOT NULL,
    change_reason TEXT,
    changed_by UUID REFERENCES users(id),
    changed_at TIMESTAMPTZ DEFAULT now()
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057400"/>
            <a:ext cx="5349240" cy="438912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103120"/>
            <a:ext cx="5120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E67E22"/>
                </a:solidFill>
                <a:latin typeface="Consolas"/>
              </a:rPr>
              <a:t>JSON — desired vs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423160"/>
            <a:ext cx="5120640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nsolas"/>
              </a:rPr>
              <a:t>// desired (서버)
{
  "gateway_id": "GW-000001",
  "config_version": 12,
  "config_hash": "a83f2e9d",
  "interfaces": [...],
  "sensors":    [...],
  "actuators":  [...],
  "rules":      [...]
}
// reported (Gateway)
{
  "gateway_id": "GW-000001",
  "applied_config_version": 12,
  "config_hash": "a83f2e9d",
  "status": "applied",
  "applied_at": "2026-05-02T12:00:00Z",
  "errors": []
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MQTT Topic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사용자 기준 ❌  ·  Gateway 기준 ✅  (사용자-Gateway 관계는 Backend DB에서)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18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❌ 비권장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Consolas"/>
              </a:rPr>
              <a:t>user/{userId}/gateway/{gatewayId}/telemetry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52120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8A8B"/>
                </a:solidFill>
                <a:latin typeface="Malgun Gothic"/>
              </a:rPr>
              <a:t>사용자 변경/이전 시 topic 재구성 필요. ACL 복잡.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005840"/>
            <a:ext cx="553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078992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Malgun Gothic"/>
              </a:rPr>
              <a:t>✅ 권장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Consolas"/>
              </a:rPr>
              <a:t>gw/{gatewayId}/telemetry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B8A8B"/>
                </a:solidFill>
                <a:latin typeface="Malgun Gothic"/>
              </a:rPr>
              <a:t>Gateway 단일 식별자 기준. ACL 단순. 사용자 매핑은 DB.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55778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5577840" cy="41148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Gateway → Server (publish)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07792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907792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센서 측정값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64992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364992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전체 상태 (cpu·mem·net)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22192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gw/{id}/heartbeat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822192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주기 alive 신호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79392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79392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에러·경보·이벤트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36592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gw/{id}/config/reported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736592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현재 적용된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93792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gw/{id}/command/response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5193792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명령 실행 결과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50992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gw/{id}/ota/status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650992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OTA 진행 상황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2423160"/>
            <a:ext cx="55321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2423160"/>
            <a:ext cx="5532120" cy="41148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468880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Server → Gateway (subscribe)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926080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gw/{id}/config/desired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926080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서버가 발행하는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383280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gw/{id}/command/request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383280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원격 제어 명령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840480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gw/{id}/ota/request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840480"/>
            <a:ext cx="2468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OTA 작업 지시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57200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617720"/>
            <a:ext cx="49377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VerneMQ ACL 정책 (Phase 7)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937760"/>
            <a:ext cx="4937760" cy="1371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• Gateway 계정은 자기 gw/{own_id}/* 만 publish/subscribe 가능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• Backend 계정은 모든 topic publish/subscribe 가능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• Phase 1: password file (gateway/admin 1개씩)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• Phase 7: X.509 client cert + serial → topic ACL 매핑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MQTT Payload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telemetry · gateway state — 일관된 envelope (timestamp · message_id)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19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55778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onsolas"/>
              </a:rPr>
              <a:t>Telemetry Payload  →  gw/{id}/telemetry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49240" cy="4846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{
  "message_id": "msg-20260502-000001",
  "gateway_id": "GW-000001",
  "timestamp":  "2026-05-02T12:00:00Z",
  "values": [
    {
      "sensor_channel_id": "sensor-01",
      "measurement_key": "temperature",
      "value": 24.7, "unit": "degC", "quality": "good"
    },
    {
      "sensor_channel_id": "sensor-01",
      "measurement_key": "humidity",
      "value": 61.2, "unit": "%", "quality": "good"
    }
  ]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960120"/>
            <a:ext cx="55321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onsolas"/>
              </a:rPr>
              <a:t>Gateway State  →  gw/{id}/state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8016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371600"/>
            <a:ext cx="5349240" cy="4846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{
  "gateway_id": "GW-000001",
  "timestamp":  "2026-05-02T12:00:00Z",
  "status":     "online",
  "app_version":      "1.0.3",
  "firmware_version": "2026.05.02",
  "config_version":   12,
  "uptime_sec":       82344,
  "cpu_temp":         51.3,
  "memory_usage_percent": 38.7,
  "disk_usage_percent":   42.1,
  "network": {
    "ethernet": true,
    "ip":       "192.168.0.25",
    "rtt_ms":   34
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47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1">
                <a:solidFill>
                  <a:srgbClr val="7B8A8B"/>
                </a:solidFill>
                <a:latin typeface="Malgun Gothic"/>
              </a:rPr>
              <a:t>공통 envelope: message_id (idempotency) + gateway_id + timestamp(UTC ISO8601). 모든 메시지 QoS 1 권장.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원격 제어 명령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User → Backend → MQTT → Gateway → Local Safety → Actuator (양방향 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20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058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User
Web Portal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94460.0" y="1600200"/>
            <a:ext cx="0.0" cy="4800600"/>
          </a:xfrm>
          <a:prstGeom prst="line">
            <a:avLst/>
          </a:prstGeom>
          <a:ln w="9525">
            <a:solidFill>
              <a:srgbClr val="BDC3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8880" y="96012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0058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Backend
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68980.0" y="1600200"/>
            <a:ext cx="0.0" cy="4800600"/>
          </a:xfrm>
          <a:prstGeom prst="line">
            <a:avLst/>
          </a:prstGeom>
          <a:ln w="9525">
            <a:solidFill>
              <a:srgbClr val="BDC3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3400" y="96012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0058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PostgreSQL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43500.0" y="1600200"/>
            <a:ext cx="0.0" cy="4800600"/>
          </a:xfrm>
          <a:prstGeom prst="line">
            <a:avLst/>
          </a:prstGeom>
          <a:ln w="9525">
            <a:solidFill>
              <a:srgbClr val="BDC3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96012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0058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VerneMQ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18020.0" y="1600200"/>
            <a:ext cx="0.0" cy="4800600"/>
          </a:xfrm>
          <a:prstGeom prst="line">
            <a:avLst/>
          </a:prstGeom>
          <a:ln w="9525">
            <a:solidFill>
              <a:srgbClr val="BDC3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92440" y="96012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0058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CM4
Gateway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92540.0" y="1600200"/>
            <a:ext cx="0.0" cy="4800600"/>
          </a:xfrm>
          <a:prstGeom prst="line">
            <a:avLst/>
          </a:prstGeom>
          <a:ln w="9525">
            <a:solidFill>
              <a:srgbClr val="BDC3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66960" y="96012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0058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Relay
/Valve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767060.0" y="1600200"/>
            <a:ext cx="0.0" cy="4800600"/>
          </a:xfrm>
          <a:prstGeom prst="line">
            <a:avLst/>
          </a:prstGeom>
          <a:ln w="9525">
            <a:solidFill>
              <a:srgbClr val="BDC3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94460.0" y="1828800"/>
            <a:ext cx="187452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40180" y="155448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1) 릴레이 ON 요청 (POST /api/.../commands)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20340" y="2194560"/>
            <a:ext cx="1097280" cy="2743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800" b="0" i="0">
                <a:solidFill>
                  <a:srgbClr val="0F1A2A"/>
                </a:solidFill>
                <a:latin typeface="Malgun Gothic"/>
              </a:rPr>
              <a:t>self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4700" y="1965960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2) 권한 검사 (User × Gateway)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68980.0" y="2651760"/>
            <a:ext cx="187452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14700" y="237744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3) command 생성 (status=pending)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68980.0" y="3063240"/>
            <a:ext cx="374904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4700" y="2788920"/>
            <a:ext cx="557784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4) MQTT publish  gw/{id}/command/request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18020.0" y="3474720"/>
            <a:ext cx="187452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63740" y="320040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5) 명령 전달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43900" y="3840480"/>
            <a:ext cx="1097280" cy="2743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800" b="0" i="0">
                <a:solidFill>
                  <a:srgbClr val="0F1A2A"/>
                </a:solidFill>
                <a:latin typeface="Malgun Gothic"/>
              </a:rPr>
              <a:t>self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8260" y="3611880"/>
            <a:ext cx="182880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6) Local Safety Rule (interlock · max_on)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892540.0" y="4297680"/>
            <a:ext cx="187452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938260" y="402336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7) GPIO 제어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8892540.0" y="4709160"/>
            <a:ext cx="187452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938260" y="443484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8) 실행 결과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7018020.0" y="5120640"/>
            <a:ext cx="187452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63740" y="484632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9) MQTT publish  gw/{id}/command/response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268980.0" y="5532120"/>
            <a:ext cx="374904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14700" y="5257800"/>
            <a:ext cx="557784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10) Worker가 수신 → status 업데이트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394460.0" y="5943600"/>
            <a:ext cx="1874520.0" cy="0"/>
          </a:xfrm>
          <a:prstGeom prst="line">
            <a:avLst/>
          </a:prstGeom>
          <a:ln w="15875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440180" y="566928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11) 응답 표시 (executed / failed / timeout)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명령 안전 조건 + Alarm/자동 제어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원격 제어가 사고로 이어지지 않도록 — 8가지 보호장치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21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33271"/>
            <a:ext cx="52120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명령 안전 조건 (8)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55448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1848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command_id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61848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중복 실행 방지 (idempotency key)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4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1284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expires_at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21284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오래된 명령 자동 폐기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0720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timeout_ms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0720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지연 명령 실패 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3756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0156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require_ack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40156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실행 결과 필수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3192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9592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local_safety_check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99592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현장 조건 위반 시 거부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9028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audit_log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59028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사용자·시간·대상·결과 보관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2064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8464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fail_safe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18464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장애 시 안전 상태로 전환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71500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79008"/>
            <a:ext cx="20116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C2E4A"/>
                </a:solidFill>
                <a:latin typeface="Consolas"/>
              </a:rPr>
              <a:t>manual_override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779008"/>
            <a:ext cx="30175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현장 수동 제어 우선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1005840"/>
            <a:ext cx="55321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1005840"/>
            <a:ext cx="553212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033271"/>
            <a:ext cx="52120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F1A2A"/>
                </a:solidFill>
                <a:latin typeface="Malgun Gothic"/>
              </a:rPr>
              <a:t>Alarm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1554480"/>
            <a:ext cx="521208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{
  "gateway_id":  "GW-000001",
  "sensor_channel_id": "sensor-01",
  "measurement_key": "temperature",
  "condition": "&gt;", "threshold": 35.0,
  "duration_sec": 60,
  "severity": "warning",
  "action": "notify"
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3749039"/>
            <a:ext cx="5532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9632" y="3749039"/>
            <a:ext cx="5532120" cy="4572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776472"/>
            <a:ext cx="52120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자동 제어 Rule (서버 + Gateway 양쪽 배포)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297680"/>
            <a:ext cx="5212080" cy="21031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{
  "rule_id": "control-rule-001",
  "if": {
    "sensor_channel_id": "sensor-02",
    "measurement_key": "water_level",
    "condition": "&lt;", "threshold": 20
  },
  "then": {
    "actuator_channel_id": "relay-01",
    "action": "ON"
  },
  "safety": { "max_on_duration_sec": 300 }
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Web Portal 화면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일반 사용자 · Gateway 상세 · 관리자 — 권한별 다른 메뉴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22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79476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3794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일반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3429000" cy="46634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내 Gateway 목록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  ─ 이름·위치·온오프라인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  ─ 알람 상태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  ─ 주요 센서 최신값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  ─ 제어 가능 액추에이터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  ─ 최근 이벤트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005840"/>
            <a:ext cx="3794760" cy="5486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097280"/>
            <a:ext cx="3794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Gateway 상세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691640"/>
            <a:ext cx="3429000" cy="46634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기본 정보 / 네트워크 상태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센서 채널 목록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최신 센서값 (telemetry_latest)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시계열 그래프 (ECharts)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제어 채널 (Toggle/Slider)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알람 이력 / 명령 이력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설정 버전 / 유지보수 로그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1005840"/>
            <a:ext cx="3794760" cy="54864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5" y="1097280"/>
            <a:ext cx="3794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5" y="1691640"/>
            <a:ext cx="3429000" cy="46634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사용자·고객사·현장 관리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Gateway 등록 / 소유권 할당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Gateway Profile 관리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Sensor Profile 관리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Sensor/Actuator Channel 설정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Gateway Template 관리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Bulk Operation / OTA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100" b="0" i="0">
                <a:solidFill>
                  <a:srgbClr val="1C2833"/>
                </a:solidFill>
                <a:latin typeface="Malgun Gothic"/>
              </a:rPr>
              <a:t>• Audit Log 조회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Sensor 추가 Wizard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Gateway별 센서가 다양 → 관리자 UI를 8단계 마법사로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23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11556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24712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097280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Gateway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097280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어떤 장비에 추가하나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709928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77393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755648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인터페이스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55648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RS-485 #1/2 · AI · DI · I2C · UART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368296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43230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41448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414016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Sensor Profile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414016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온습도 · 미세먼지 · 기울기 · 수위 · pH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26664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09067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099816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072384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통신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072384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Modbus slave_id · baudrate · parity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85032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3749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58184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730752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측정 주기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730752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polling_interval_sec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4340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44074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416552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389120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표시 이름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389120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사용자에게 보여줄 이름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01768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506577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0749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047488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저장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047488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sensor_channels 테이블에 INSERT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660136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20" y="572414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33288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0F1A2A"/>
                </a:solidFill>
                <a:latin typeface="Malgun Gothic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705856"/>
            <a:ext cx="32004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C2E4A"/>
                </a:solidFill>
                <a:latin typeface="Malgun Gothic"/>
              </a:rPr>
              <a:t>Config 배포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5705856"/>
            <a:ext cx="7315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config_version + 1, MQTT desired publish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동적 Dashboard 자동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Sensor Profile의 visualization hint → Widget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24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685800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6858000" cy="4572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33271"/>
            <a:ext cx="64008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measurement_key  →  Widget 매핑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685800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0934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60934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Line Chart + Current Value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65960"/>
            <a:ext cx="6858000" cy="41148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2082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humidity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02082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Line Chart + Gauge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77440"/>
            <a:ext cx="685800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3230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43230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Line 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6858000" cy="41148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4378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pm2_5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84378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Gauge + Line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685800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5526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tilt_x, tilt_y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25526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2-axis Tilt View + 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6858000" cy="41148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6674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water_level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66674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Gauge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685800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7822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relay_state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07822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Toggle + Status Card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34840"/>
            <a:ext cx="6858000" cy="411480"/>
          </a:xfrm>
          <a:prstGeom prst="rect">
            <a:avLst/>
          </a:prstGeom>
          <a:solidFill>
            <a:srgbClr val="ECF0F1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8970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valve_state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48970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Toggle + Status Card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46320"/>
            <a:ext cx="6858000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0118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gps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901184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Map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1005840"/>
            <a:ext cx="4251960" cy="5440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1078992"/>
            <a:ext cx="40233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Sensor Profile 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1371600"/>
            <a:ext cx="402336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{
  "key": "temperature",
  "display_name": "Temperature",
  "unit": "degC",
  "visualization": "line_chart",
  "display_group": "environment",
  "order": 1
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520440"/>
            <a:ext cx="4023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CCD4DB"/>
                </a:solidFill>
                <a:latin typeface="Malgun Gothic"/>
              </a:rPr>
              <a:t>결과: Frontend가 자동으로 Line Chart를 environment 그룹에 1번째로 배치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114800"/>
            <a:ext cx="4023360" cy="2194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lgun Gothic"/>
              </a:rPr>
              <a:t>장점
• 새 센서 추가 시 frontend 수정 0
• Gateway별 다른 대시보드 자동 생성
• 사용자별 widget 순서 커스텀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Bulk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Gateway 수가 늘면 일괄 작업이 필수 — 8가지 작업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25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143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972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Gateway 현장 일괄 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0972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company/site 매핑 변경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0515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1928" y="1143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0972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사용자 권한 일괄 부여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10972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특정 group → 다수 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7830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센서 polling 일괄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7830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sensor_channels.polling_interval_sec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7373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1928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17830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알람 기준 일괄 변경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17830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alarm_rules.threshold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4231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25146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4688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OTA 일괄 업데이트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4688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타겟 필터 + 점진 배포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24231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81928" y="25146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24688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Gateway 일괄 재시작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24688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command publish (reboot)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1089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32004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1546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설정 일괄 배포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1546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Template 기반 desired_config 발행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3108960"/>
            <a:ext cx="5532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81928" y="32004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0F1A2A"/>
                </a:solidFill>
                <a:latin typeface="Malgun Gothic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31546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로그 일괄 수집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3154680"/>
            <a:ext cx="22860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log/upload topic 트리거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114800"/>
            <a:ext cx="11247120" cy="228600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DDL — bulk_jobs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nsolas"/>
              </a:rPr>
              <a:t>CREATE TABLE bulk_jobs (
    id UUID PRIMARY KEY,
    job_type TEXT NOT NULL,
    target_filter JSONB NOT NULL,    -- {"company_id": "...", "site_id": "...", "tags": [...]}
    payload JSONB NOT NULL,          -- 작업별 파라미터
    status TEXT NOT NULL DEFAULT 'pending',
    created_by UUID REFERENCES users(id),
    created_at TIMESTAMPTZ DEFAULT now(),
    completed_at TIMESTAMPTZ
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Gateway Agent 구현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/opt/iot-gateway/ 모듈 구성 + 부팅 흐름 + Local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26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3749039" cy="5440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78992"/>
            <a:ext cx="34747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/opt/iot-gateway/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3474720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gateway-agent/      Main loop
sensor-service/     Modbus poll
actuator-service/   GPIO/Relay
rule-engine/        Local Rule
mqtt-client/        TLS pub/sub
local-db/           SQLite
ota-agent/          이미지 검증
health-agent/       heartbeat
config/             설정 파일
logs/               회전 로그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005840"/>
            <a:ext cx="3749039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005840"/>
            <a:ext cx="3749039" cy="4572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033271"/>
            <a:ext cx="34747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부팅 흐름 (14 단계)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54480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Gateway ID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83664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883664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인증서·설정 파일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12848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212848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네트워크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542032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42032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MQTT Broker 연결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871216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871216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현재 config_version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200400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200400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서버 desired_config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29584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529584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버전 다르면 다운로드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858768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858768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설정 유효성 검사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187952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187952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Sensor driver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517136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517136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Actuator driver 구성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846320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846320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Rule engine 구성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175504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175504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reported_config 전송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504688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5504688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센서 polling 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5833872"/>
            <a:ext cx="2743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onsolas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833872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주기 heartbeat 전송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1005840"/>
            <a:ext cx="347472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20" y="1005840"/>
            <a:ext cx="3474720" cy="45720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1033271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Local Buffer 정책 (SQLite)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1554480"/>
            <a:ext cx="32004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저장 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178308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telemetry · event · cmd 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267712"/>
            <a:ext cx="32004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재전송 순서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496312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timestamp 오름차순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980944"/>
            <a:ext cx="32004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중복 방지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209544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message_id 기반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694176"/>
            <a:ext cx="32004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보존 기간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922776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7~30일 (정책 가능)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407408"/>
            <a:ext cx="32004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초과 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63600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오래된 telemetry부터 삭제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120640"/>
            <a:ext cx="32004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우선순위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34924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event &gt; cmd_resp &gt; telemetry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Gateway Safety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CM4 Linux + STM32/NXP Safety MCU 이중 구조 (Phase 4-7 도입)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27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CM4 Linux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12064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클라우드 통신 (MQTT TLS)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데이터 저장 (SQLite local buffer)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고수준 명령 처리 / Rule engine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OTA / 진단 / 로그 수집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291840"/>
            <a:ext cx="0" cy="365760"/>
          </a:xfrm>
          <a:prstGeom prst="line">
            <a:avLst/>
          </a:prstGeom>
          <a:ln w="31750">
            <a:solidFill>
              <a:srgbClr val="1C2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370332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STM32 / NXP Safety MCU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120640" cy="21945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릴레이/밸브 직접 제어 (low-level)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Local Interlock (센서 조건 위반 시 차단)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Watchdog (Linux 행 시 자동 fail-safe)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Fail-safe state 강제 전환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• 물리적 비상 정지 입력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051560"/>
            <a:ext cx="5532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4300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필수 안전 기능 (8)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0020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6420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Fail-safe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66420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장애 시 릴레이/밸브 기본 안전 상태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19456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5856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Max 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5856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릴레이가 너무 오래 켜지지 않도록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78892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5292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Command expiry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5292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오래된 명령 실행 금지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38328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44728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Manual override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4728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현장 수동 제어 우선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97764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4164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Interlock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4164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센서 조건 위반 시 제어 차단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57200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63600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Watchdog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63600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프로세스/OS 장애 감지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516636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23036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Output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23036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실제 릴레이 상태 피드백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576072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82472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Emergency stop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82472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물리적 비상 정지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API 설계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Gateway · Sensor · Actuator · Config · Admin — REST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28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411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55778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/api/gateways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PATCH  /api/gateways/{id}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DELETE /api/gateways/{id}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/api/gateways/{id}/state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/api/gateways/{id}/telemetry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/api/gateways/{id}/latest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005840"/>
            <a:ext cx="55778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005840"/>
            <a:ext cx="5577840" cy="41148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051560"/>
            <a:ext cx="55778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08760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/api/sensor-profiles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/api/sensor-profiles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PATCH  /api/sensor-profiles/{id}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/api/gateways/{id}/sensor-channels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/api/gateways/{id}/sensor-channels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PATCH  /api/sensor-channels/{id}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DELETE /api/sensor-channels/{id}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5778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577840" cy="41148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94759"/>
            <a:ext cx="55778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Actuator + 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59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/api/actuator-profiles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/api/actuator-profiles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/api/gateways/{id}/actuator-channels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/api/gateways/{id}/actuator-channels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PATCH  /api/actuator-channels/{id}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/api/gateways/{id}/commands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/api/commands/{cmd_id}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49039"/>
            <a:ext cx="55778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749039"/>
            <a:ext cx="5577840" cy="41148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794759"/>
            <a:ext cx="557784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Config +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251959"/>
            <a:ext cx="5212080" cy="2103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/api/gateways/{id}/configs/generate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/api/gateways/{id}/configs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/api/gateways/{id}/configs/latest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/api/gateways/{id}/configs/{ver}/deploy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/api/gateways/{id}/configs/{ver}/rollback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/api/companies   /api/sites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POST   /api/users/{id}/gateway-permissions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Consolas"/>
              </a:rPr>
              <a:t>GET    /api/audit-logs   /api/bulk-jobs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보안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장비 보안 + 서버 보안 — TLS · JWT · ACL · Audit 다중 방어선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29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45720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33271"/>
            <a:ext cx="52120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장비 (Gateway) 보안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MQTT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64592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TLS 필수 (Phase 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67128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1284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Gateway 인증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21284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Phase 1 ID/PW · Phase 7 X.509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34056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79776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Topic ACL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779776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자기 topic만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00984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46704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Private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346704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TPM/Secure Element 권장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67912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13632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SSH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913632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기본 비활성화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43484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48056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서명 검증 필수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01768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4748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Local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04748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config_hash 검증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68696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614416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614416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제어·설정 변경 보관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1005840"/>
            <a:ext cx="553212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1005840"/>
            <a:ext cx="5532120" cy="4572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033271"/>
            <a:ext cx="52120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서버 보안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160020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164592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인증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164592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Keycloak OIDC/OAuth2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2167128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21284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221284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JWT 검증 (Backend)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2734056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779776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권한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2779776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RBAC + ABAC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3300984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346704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DB 필터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3346704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company/site/gateway_id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3867912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913632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RLS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3913632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주요 테이블 적용 검토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55080" y="443484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4480560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TLS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448056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Web · API · MQTT 모두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5001768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5047488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Audit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04748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사용자 명령·설정 변경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55080" y="5568696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5614416"/>
            <a:ext cx="18288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Backup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5614416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정기 + 복구 테스트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PostgreSQL Row Level Security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사용자별 Gateway 접근 격리 — Phase 6+ 적용 권장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30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Malgun Gothic"/>
              </a:rPr>
              <a:t>적용 대상 테이블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508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1C2E4A"/>
                </a:solidFill>
                <a:latin typeface="Consolas"/>
              </a:rPr>
              <a:t>gateways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2" y="1371600"/>
            <a:ext cx="1508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1C2E4A"/>
                </a:solidFill>
                <a:latin typeface="Consolas"/>
              </a:rPr>
              <a:t>sensor_channels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2464" y="1371600"/>
            <a:ext cx="1508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1C2E4A"/>
                </a:solidFill>
                <a:latin typeface="Consolas"/>
              </a:rPr>
              <a:t>actuator_channels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0096" y="1371600"/>
            <a:ext cx="1508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1C2E4A"/>
                </a:solidFill>
                <a:latin typeface="Consolas"/>
              </a:rPr>
              <a:t>telemetry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371600"/>
            <a:ext cx="1508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1C2E4A"/>
                </a:solidFill>
                <a:latin typeface="Consolas"/>
              </a:rPr>
              <a:t>telemetry_latest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371600"/>
            <a:ext cx="1508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1C2E4A"/>
                </a:solidFill>
                <a:latin typeface="Consolas"/>
              </a:rPr>
              <a:t>commands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22992" y="1371600"/>
            <a:ext cx="15087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1C2E4A"/>
                </a:solidFill>
                <a:latin typeface="Consolas"/>
              </a:rPr>
              <a:t>audit_logs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011680"/>
            <a:ext cx="6858000" cy="29260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057400"/>
            <a:ext cx="65836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예시 정책 (PoC)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377440"/>
            <a:ext cx="6583680" cy="2468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ALTER TABLE gateways ENABLE ROW LEVEL SECURITY;
CREATE POLICY gateway_access_policy ON gateways
USING (
    id IN (
        SELECT gateway_id
          FROM user_gateway_permissions
         WHERE user_id = current_setting('app.current_user_id')::uuid
    )
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011680"/>
            <a:ext cx="42519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103120"/>
            <a:ext cx="39319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도입 시 고려사항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468880"/>
            <a:ext cx="3931920" cy="2468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Malgun Gothic"/>
              </a:rPr>
              <a:t>• Backend connection pool에서 SET app.current_user_id 호출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Malgun Gothic"/>
              </a:rPr>
              <a:t>• service role 우회 정책 정의 필요 (worker, scheduler)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Malgun Gothic"/>
              </a:rPr>
              <a:t>• 관리자 권한 BYPASSRLS 별도 role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Malgun Gothic"/>
              </a:rPr>
              <a:t>• batch/migration 작업 시 일시 비활성화 고려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1">
                <a:solidFill>
                  <a:srgbClr val="E67E22"/>
                </a:solidFill>
                <a:latin typeface="Malgun Gothic"/>
              </a:rPr>
              <a:t>• Phase 6+ 적용 권장 — 초기에는 application 단 권한으로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66360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E4A"/>
                </a:solidFill>
                <a:latin typeface="Malgun Gothic"/>
              </a:rPr>
              <a:t>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Phase 1-5 동안은 application 레이어에서 권한 enforce. DB row-level 격리는 다중 테넌트가 본격화되는 Phase 6+에 도입.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운영 관리 — 백업 · 모니터링 ·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Phase 7 제품화 단계의 핵심 — 자체 호스팅이므로 모두 직접 책임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31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3749039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749039" cy="4572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33271"/>
            <a:ext cx="33832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백업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3383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1188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C2E4A"/>
                </a:solidFill>
                <a:latin typeface="Malgun Gothic"/>
              </a:rPr>
              <a:t>매일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828800"/>
            <a:ext cx="2286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pg_dump / pg_basebackup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40280"/>
            <a:ext cx="3383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Gateway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1188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C2E4A"/>
                </a:solidFill>
                <a:latin typeface="Malgun Gothic"/>
              </a:rPr>
              <a:t>매일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468880"/>
            <a:ext cx="2286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파일/DB 백업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3383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펌웨어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1188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C2E4A"/>
                </a:solidFill>
                <a:latin typeface="Malgun Gothic"/>
              </a:rPr>
              <a:t>변경 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108960"/>
            <a:ext cx="2286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rsync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20440"/>
            <a:ext cx="3383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로그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1188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C2E4A"/>
                </a:solidFill>
                <a:latin typeface="Malgun Gothic"/>
              </a:rPr>
              <a:t>정책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749040"/>
            <a:ext cx="2286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압축/보관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338328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Keycloak realm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1188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1C2E4A"/>
                </a:solidFill>
                <a:latin typeface="Malgun Gothic"/>
              </a:rPr>
              <a:t>변경 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389120"/>
            <a:ext cx="2286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kc.sh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1005840"/>
            <a:ext cx="365760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1005840"/>
            <a:ext cx="3657600" cy="4572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1033271"/>
            <a:ext cx="33832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모니터링 지표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1600200"/>
            <a:ext cx="1280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1600200"/>
            <a:ext cx="2103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online · heartbeat · CPU · mem · disk · temp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240280"/>
            <a:ext cx="1280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VerneMQ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240280"/>
            <a:ext cx="2103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connected · message rate · dropped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2880360"/>
            <a:ext cx="1280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880360"/>
            <a:ext cx="2103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API latency · error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520440"/>
            <a:ext cx="1280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520440"/>
            <a:ext cx="2103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connections · slow query · disk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160520"/>
            <a:ext cx="1280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Command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160520"/>
            <a:ext cx="2103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success · timeout · rejected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800600"/>
            <a:ext cx="1280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Config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800600"/>
            <a:ext cx="2103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pending · applied · failed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440680"/>
            <a:ext cx="1280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OTA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440680"/>
            <a:ext cx="21031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success · failed · rollback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79" y="1005840"/>
            <a:ext cx="35661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83879" y="1005840"/>
            <a:ext cx="35661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7" y="1033271"/>
            <a:ext cx="33832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장애 대응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7" y="160020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Gateway offline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1828800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알람 + 마지막 상태 표시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7" y="237744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센서 미수신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7" y="2606040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channel = degraded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7" y="315468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명령 timeout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3383280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command failed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393192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config 적용 실패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4160520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이전 config 유지 + 알림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7" y="470916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DB 용량 증가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7" y="4937760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partition retention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327" y="548640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Malgun Gothic"/>
              </a:rPr>
              <a:t>서버 장애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9327" y="5715000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백업 복구 절차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개발 로드맵 — 7단계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Phase 1만 우선 1주 sprint로 확정. 나머지는 결과 보고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32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164592" cy="71323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06984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069848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서버 기본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8988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1주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389888"/>
            <a:ext cx="9144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systemd 5종 · Keycloak realm · 코드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164592" cy="713232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84708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1847088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다중 Gateway 권한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16712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TBD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167128"/>
            <a:ext cx="9144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companies/sites/users/gateways · Backend skeleton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6032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560320"/>
            <a:ext cx="164592" cy="71323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62432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624328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Sensor Profile/Channel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94436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TBD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944368"/>
            <a:ext cx="9144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Sensor Wizard · Telemetry · 동적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3756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337560"/>
            <a:ext cx="164592" cy="713232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40156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401568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Actuator + 원격 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2160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TBD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721608"/>
            <a:ext cx="9144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command 흐름 · 안전 조건 · 권한 분리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1480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164592" cy="71323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17880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178808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Gateway Config Versioning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49884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TBD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498848"/>
            <a:ext cx="9144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desired/reported · rollback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9204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892040"/>
            <a:ext cx="164592" cy="713232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95604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Phase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4956048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관리 편의성 (Template/Bulk/Alarm)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27608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TBD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5276088"/>
            <a:ext cx="9144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Template · Bulk · Alarm Rule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66928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669280"/>
            <a:ext cx="164592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3328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C2E4A"/>
                </a:solidFill>
                <a:latin typeface="Malgun Gothic"/>
              </a:rPr>
              <a:t>Phase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5733288"/>
            <a:ext cx="4114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C2833"/>
                </a:solidFill>
                <a:latin typeface="Malgun Gothic"/>
              </a:rPr>
              <a:t>제품화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053328"/>
            <a:ext cx="13716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TBD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6053328"/>
            <a:ext cx="91440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X.509 · ACL · OTA · Backup · Safety MCU · OSS Notice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Phase 1 — 서버 인프라 1주 sprint (확정 spec)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인터뷰 결과 · 코드 0줄 · Solo + Claude Code AI 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33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2103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Ubuntu 24.04 · 사내 물리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00584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05156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298448"/>
            <a:ext cx="2103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1주 single sprint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00584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05156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298448"/>
            <a:ext cx="2103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0줄 (순수 인프라)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00584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05156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298448"/>
            <a:ext cx="2103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Solo + AI pair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00584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05156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Malgun Gothic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298448"/>
            <a:ext cx="2103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체크리스트 + smoke.sh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78308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783080"/>
            <a:ext cx="5577840" cy="4114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819656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✅ Scope (Phase 1 포함)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286000"/>
            <a:ext cx="5212080" cy="41148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OS · 보안 hardening (ufw · ssh · iot 사용자)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PostgreSQL 16 (apt) · iot_platform DB · keycloak DB · iot_user role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VerneMQ (.deb) · systemd · password file 인증 · 1883 plain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Keycloak (release) · systemd · Postgres backend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    └ realm: iot-platform · 7 roles · test user 1명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Nginx + certbot Let's Encrypt → HTTPS reverse proxy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    └ /auth → keycloak (placeholder /api · /)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/etc/iot-platform/ · .env 템플릿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운영 절차서 (markdown)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scripts/phase1_smoke.sh (자동 점검)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783080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1783080"/>
            <a:ext cx="553212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819656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❌ Non-goals (Phase 2+ 이연)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286000"/>
            <a:ext cx="521208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모든 application 코드 (FastAPI · React · Worker · Scheduler)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비즈니스 DB schema (companies · sites · users · gateways · ...)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Gateway 연결 · telemetry · MQTT TLS · X.509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 i="0">
                <a:solidFill>
                  <a:srgbClr val="1C2833"/>
                </a:solidFill>
                <a:latin typeface="Malgun Gothic"/>
              </a:rPr>
              <a:t>• OTA · Safety MCU · Backup automation · Alarm · Bulk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11480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4114800"/>
            <a:ext cx="5532120" cy="41148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16052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🎯 Definition of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617720"/>
            <a:ext cx="5212080" cy="18288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• systemctl is-active → 4개 서비스 active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• https://&lt;도메인&gt;/auth/realms/iot-platform/.well-known/openid-configuration → 200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• Keycloak admin 로그인 성공 (test user)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• mosquitto_pub/sub → password 인증 후 1883 publish/subscribe 성공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• psql -U iot_user -d iot_platform -c "SELECT 1" → 성공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 i="0">
                <a:solidFill>
                  <a:srgbClr val="1C2833"/>
                </a:solidFill>
                <a:latin typeface="Consolas"/>
              </a:rPr>
              <a:t>• scripts/phase1_smoke.sh → 전체 PASS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Phase 1 일정 분해 (1주 sprint 제안)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Day 1-7 task breakdown — 인터뷰 합의 spec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34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822960" cy="18288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51560"/>
            <a:ext cx="777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Malgun Gothic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7772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OS 베이스 + 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097280"/>
            <a:ext cx="452628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Ubuntu 24.04 LTS 클린 설치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iot 시스템 사용자 생성 · sudo 정책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ufw 포트 정책 (22 · 80 · 443 · 1883)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ssh hardening (key only · port forward 차단)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/opt/iot-platform · /etc/iot-platform · /var/lib/iot-platform 디렉터리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00584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005840"/>
            <a:ext cx="822960" cy="18288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051560"/>
            <a:ext cx="777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Malgun Gothic"/>
              </a:rPr>
              <a:t>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463040"/>
            <a:ext cx="7772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PostgreSQL + VerneMQ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1097280"/>
            <a:ext cx="452628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PostgreSQL 16 apt 설치 · 권한 설정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iot_platform DB + keycloak DB 생성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iot_user role + 권한 grant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VerneMQ .deb 설치 · systemd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vmq_passwd로 gateway/admin 계정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880360"/>
            <a:ext cx="822960" cy="18288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26080"/>
            <a:ext cx="777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Malgun Gothic"/>
              </a:rPr>
              <a:t>Day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37560"/>
            <a:ext cx="7772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Keycloak 설치 + realm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971800"/>
            <a:ext cx="452628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Keycloak release 다운로드 → /opt/iot-platform/keycloak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Postgres datasource 설정 (KEYCLOAK_DATABASE_*)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keycloak.service systemd unit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iot-platform realm 생성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7 role + test user 1명 생성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288036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2880360"/>
            <a:ext cx="822960" cy="18288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926080"/>
            <a:ext cx="777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Malgun Gothic"/>
              </a:rPr>
              <a:t>Day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3337560"/>
            <a:ext cx="7772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Nginx + HTTPS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971800"/>
            <a:ext cx="452628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Nginx 설치 · iot-platform.conf 작성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/auth → 8080 reverse proxy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/api · / placeholder location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certbot --nginx 으로 Let's Encrypt 발급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systemd timer로 인증서 자동 갱신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54879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754879"/>
            <a:ext cx="822960" cy="18288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00599"/>
            <a:ext cx="777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Malgun Gothic"/>
              </a:rPr>
              <a:t>Day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12079"/>
            <a:ext cx="7772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환경 분리 + 절차서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846319"/>
            <a:ext cx="452628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/etc/iot-platform/{backend,worker,scheduler,mqtt,db,keycloak}.env 템플릿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운영 절차서 (PHASE1_OPS.md) 작성 — 설치 명령 단계별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장애 대응 절차 (서비스 재시작 · 로그 위치)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54879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754879"/>
            <a:ext cx="822960" cy="18288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4800599"/>
            <a:ext cx="777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Malgun Gothic"/>
              </a:rPr>
              <a:t>Day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5212079"/>
            <a:ext cx="7772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smoke test 자동화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4846319"/>
            <a:ext cx="452628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scripts/phase1_smoke.sh 작성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  systemctl is-active 4개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  curl /auth/.well-known/openid-configuration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  psql SELECT 1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  mosquitto_pub/sub 인증 테스트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62940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6629400"/>
            <a:ext cx="822960" cy="18288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675120"/>
            <a:ext cx="777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Malgun Gothic"/>
              </a:rPr>
              <a:t>Day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7086600"/>
            <a:ext cx="7772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검증 + 문서 정리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720840"/>
            <a:ext cx="10195560" cy="1645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smoke test 전체 실행 → PASS 확인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체크리스트 마크다운 결과 commit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50" b="0" i="0">
                <a:solidFill>
                  <a:srgbClr val="1C2833"/>
                </a:solidFill>
                <a:latin typeface="Malgun Gothic"/>
              </a:rPr>
              <a:t>• Phase 2 인터뷰 준비 (남은 트랙: Gateway OS · scale · PoC 산업 등)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라이선스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권장 vs 주의 — 상용화 시 OSS Notice / SBOM 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35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685800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685800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33271"/>
            <a:ext cx="64008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권장 컴포넌트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VerneMQ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645920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Apache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45920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Malgun Gothic"/>
              </a:rPr>
              <a:t>권장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167128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212848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212848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PostgreSQL 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212848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Malgun Gothic"/>
              </a:rPr>
              <a:t>권장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34056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779776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Keycloak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779776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Apache 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779776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Malgun Gothic"/>
              </a:rPr>
              <a:t>권장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00984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46704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Apache ECharts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346704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Apache 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46704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Malgun Gothic"/>
              </a:rPr>
              <a:t>권장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67912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913632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Nginx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913632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BSD-like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913632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Malgun Gothic"/>
              </a:rPr>
              <a:t>권장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434840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480560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FastAPI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480560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80560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Malgun Gothic"/>
              </a:rPr>
              <a:t>권장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001768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047488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React + Vite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047488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047488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Malgun Gothic"/>
              </a:rPr>
              <a:t>권장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568696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14416"/>
            <a:ext cx="22860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C2E4A"/>
                </a:solidFill>
                <a:latin typeface="Malgun Gothic"/>
              </a:rPr>
              <a:t>Prometheus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614416"/>
            <a:ext cx="2743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Consolas"/>
              </a:rPr>
              <a:t>Apache 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614416"/>
            <a:ext cx="10972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7B8A8B"/>
                </a:solidFill>
                <a:latin typeface="Malgun Gothic"/>
              </a:rPr>
              <a:t>선택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79" y="1005840"/>
            <a:ext cx="42519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79" y="1005840"/>
            <a:ext cx="4251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1033271"/>
            <a:ext cx="393192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피하거나 주의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0" y="1600200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1645920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EMQX 최신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1892808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BSL 계열 이슈 가능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80960" y="2313432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2359152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MinIO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2606040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AGPLv3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0960" y="3026664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8120" y="3072384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Grafana 고객용 노출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3319272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AGPLv3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80960" y="3739896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20" y="3785616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Loki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4032504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AGPL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80960" y="4453128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18120" y="4498848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SWUpdate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4745736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GPLv2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80960" y="5166360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5212080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TimescaleDB Community 일부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5458968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Timescale License 혼재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80960" y="5879592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ECF0F1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18120" y="5925312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Malgun Gothic"/>
              </a:rPr>
              <a:t>Docker Desktop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6172200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조직 규모 구독 이슈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최종 구현 우선순위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최우선 → 중간 → 제품화 — 자원 제한 시 위에서 아래로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36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3794760" cy="5943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37947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최우선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3337560" cy="45720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사용자별 다중 Gateway 권한 모델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Gateway별 Sensor Profile / Channel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MQTT topic + Gateway 인증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Telemetry 저장 + latest 조회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Gateway Config Versioning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Command Request/Response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005840"/>
            <a:ext cx="3794760" cy="59436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097280"/>
            <a:ext cx="37947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중간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1783080"/>
            <a:ext cx="3337560" cy="45720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Sensor 추가 Wizard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Dynamic Dashboard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Alarm Rule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Actuator Channel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Config Rollback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Audit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005840"/>
            <a:ext cx="379476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DC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1005840"/>
            <a:ext cx="379476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5" y="1097280"/>
            <a:ext cx="37947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제품화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5" y="1783080"/>
            <a:ext cx="3337560" cy="45720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Gateway별 X.509 인증서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VerneMQ ACL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OTA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Backup / Restore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Safety MCU 연동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 i="0">
                <a:solidFill>
                  <a:srgbClr val="1C2833"/>
                </a:solidFill>
                <a:latin typeface="Malgun Gothic"/>
              </a:rPr>
              <a:t>• OSS Notice / SBOM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최종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00584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CD4DB"/>
                </a:solidFill>
                <a:latin typeface="Malgun Gothic"/>
              </a:rPr>
              <a:t>Docker 없이도 자체 호스팅 IoT Gateway 플랫폼은 가능하다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92608"/>
            <a:ext cx="8229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 i="0">
                <a:solidFill>
                  <a:srgbClr val="CCD4DB"/>
                </a:solidFill>
                <a:latin typeface="Malgun Gothic"/>
              </a:rPr>
              <a:t>37 /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93408"/>
            <a:ext cx="10058400" cy="1463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9A3A8"/>
                </a:solidFill>
                <a:latin typeface="Malgun Gothic"/>
              </a:rPr>
              <a:t>CM4 IoT Gateway 자체 호스팅 플랫폼 — 상세 구현 계획서 (2026-05-02)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C2E4A"/>
                </a:solidFill>
                <a:latin typeface="Malgun Gothic"/>
              </a:rPr>
              <a:t>산업용 서버 운영에서는 systemd 기반 서비스 단위 관리가 오히려 안정적이다.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1C2833"/>
                </a:solidFill>
                <a:latin typeface="Malgun Gothic"/>
              </a:rPr>
              <a:t>단, 다음 7가지 조건은 반드시 설계에 반영해야 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65960"/>
            <a:ext cx="4114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02536"/>
            <a:ext cx="411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52120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한 사용자가 여러 IoT Gateway를 가질 수 있음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4114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02536"/>
            <a:ext cx="411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011680"/>
            <a:ext cx="52120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Gateway마다 연결된 센서 종류가 다를 수 있음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4114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59736"/>
            <a:ext cx="411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468880"/>
            <a:ext cx="52120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Gateway마다 릴레이·밸브·펌프 구성이 다를 수 있음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23160"/>
            <a:ext cx="4114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459736"/>
            <a:ext cx="411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468880"/>
            <a:ext cx="52120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관리회사는 전체 Gateway를 통합 관리해야 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880360"/>
            <a:ext cx="4114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16936"/>
            <a:ext cx="411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926080"/>
            <a:ext cx="52120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일반 사용자는 본인에게 할당된 Gateway만 접근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80360"/>
            <a:ext cx="4114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916936"/>
            <a:ext cx="411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926080"/>
            <a:ext cx="52120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센서 종류 추가 시 코드 수정 최소화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37560"/>
            <a:ext cx="411480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74136"/>
            <a:ext cx="41148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F1A2A"/>
                </a:solidFill>
                <a:latin typeface="Malgun Gothic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383280"/>
            <a:ext cx="52120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Gateway 설정은 서버에서 중앙 관리·버전 관리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69080"/>
            <a:ext cx="11247120" cy="237744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Malgun Gothic"/>
              </a:rPr>
              <a:t>권장 최종 구조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algun Gothic"/>
              </a:rPr>
              <a:t>VerneMQ  +  PostgreSQL  +  Keycloak  +  FastAPI Backend  +  React (Vite) Web Portal
+  systemd 기반 서비스 운영  +  Gateway Profile  +  Sensor Profile  +  Sensor Channel Mapping
+  Actuator Channel Mapping  +  Gateway Config Versioning  +  Dynamic Dashboard
+  RBAC / ABAC 권한 모델  +  CM4 Linux + Safety MCU 이중 구조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3657600" cy="6858000"/>
          </a:xfrm>
          <a:prstGeom prst="rtTriangle">
            <a:avLst/>
          </a:prstGeom>
          <a:solidFill>
            <a:srgbClr val="0F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08792" y="0"/>
            <a:ext cx="91440" cy="1219169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731520" cy="91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7772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83080"/>
            <a:ext cx="7772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39C12"/>
                </a:solidFill>
                <a:latin typeface="Malgun Gothic"/>
              </a:rPr>
              <a:t>지금 당장 시작 가능한 4가지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46888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560320"/>
            <a:ext cx="7315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532888"/>
            <a:ext cx="6400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Phase 1 sprint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852928"/>
            <a:ext cx="64008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CCD4DB"/>
                </a:solidFill>
                <a:latin typeface="Malgun Gothic"/>
              </a:rPr>
              <a:t>본 자료의 Day 1-7 일정대로 서버 인프라 1주 구축. 코드 0줄.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42900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520440"/>
            <a:ext cx="7315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493008"/>
            <a:ext cx="6400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Phase 1 산출물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813048"/>
            <a:ext cx="64008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CCD4DB"/>
                </a:solidFill>
                <a:latin typeface="Malgun Gothic"/>
              </a:rPr>
              <a:t>운영 절차서(PHASE1_OPS.md) + scripts/phase1_smoke.sh를 git repo로 형상 관리.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438912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4480560"/>
            <a:ext cx="7315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453128"/>
            <a:ext cx="6400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Phase 2 인터뷰 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773168"/>
            <a:ext cx="64008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CCD4DB"/>
                </a:solidFill>
                <a:latin typeface="Malgun Gothic"/>
              </a:rPr>
              <a:t>남은 미결정: Gateway OS · v1 운영 규모 · 첫 PoC 산업 · Safety MCU 시점.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534924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0F1A2A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5440680"/>
            <a:ext cx="73152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  <a:latin typeface="Malgun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413248"/>
            <a:ext cx="6400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Hardware lab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733288"/>
            <a:ext cx="64008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CCD4DB"/>
                </a:solidFill>
                <a:latin typeface="Malgun Gothic"/>
              </a:rPr>
              <a:t>보유 CM4 Gateway + RS-485 온습도 센서 1개로 Phase 3 telemetry 흐름 실측.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00800"/>
            <a:ext cx="7772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7B8A8B"/>
                </a:solidFill>
                <a:latin typeface="Malgun Gothic"/>
              </a:rPr>
              <a:t>v1.0 · 작성: 2026-05-02 · Owner: Solo + Claude Code AI pair · CM4 IoT Gateway 자체 호스팅 플랫폼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